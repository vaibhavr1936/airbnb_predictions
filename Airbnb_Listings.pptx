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58368"/>
            <a:ext cx="1097280" cy="73152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1069848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8FAFD"/>
                </a:solidFill>
                <a:latin typeface="Aptos"/>
              </a:defRPr>
            </a:pPr>
            <a:r>
              <a:rPr dirty="0"/>
              <a:t>PREDICTING AIRBNB</a:t>
            </a:r>
            <a:r>
              <a:rPr lang="en-IN" dirty="0"/>
              <a:t> </a:t>
            </a:r>
            <a:r>
              <a:rPr dirty="0"/>
              <a:t>LISTING 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875520" cy="4154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64CDF5"/>
                </a:solidFill>
                <a:latin typeface="Aptos"/>
              </a:defRPr>
            </a:pPr>
            <a:r>
              <a:rPr dirty="0"/>
              <a:t>Reproducing a Stanford study</a:t>
            </a:r>
            <a:r>
              <a:rPr lang="en-IN" dirty="0"/>
              <a:t> paper</a:t>
            </a:r>
            <a:r>
              <a:rPr dirty="0"/>
              <a:t> and extending it with Extra Trees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977639"/>
            <a:ext cx="1069848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27C4B4"/>
                </a:solidFill>
                <a:latin typeface="Aptos"/>
              </a:defRPr>
            </a:pPr>
            <a:r>
              <a:rPr dirty="0"/>
              <a:t>PART 1  •  REPRODUCE TH</a:t>
            </a:r>
            <a:r>
              <a:rPr lang="en-US" dirty="0"/>
              <a:t>E</a:t>
            </a:r>
            <a:r>
              <a:rPr dirty="0"/>
              <a:t> REFERENCE     |     PART 2  •  ADD A NEW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61772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F8FAFD"/>
                </a:solidFill>
                <a:latin typeface="Aptos"/>
              </a:defRPr>
            </a:pPr>
            <a:r>
              <a:rPr dirty="0"/>
              <a:t>Dataset:</a:t>
            </a:r>
            <a:r>
              <a:rPr lang="en-IN" dirty="0"/>
              <a:t> Airbnb</a:t>
            </a:r>
            <a:r>
              <a:rPr dirty="0"/>
              <a:t> </a:t>
            </a:r>
            <a:r>
              <a:rPr lang="en-IN" dirty="0"/>
              <a:t>- </a:t>
            </a:r>
            <a:r>
              <a:rPr dirty="0"/>
              <a:t>New York City · Paris ·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32064"/>
            <a:ext cx="6455664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7C5D8"/>
                </a:solidFill>
                <a:latin typeface="Aptos"/>
              </a:defRPr>
            </a:pPr>
            <a:r>
              <a:rPr lang="en-IN" sz="1600" dirty="0"/>
              <a:t>Team No:3</a:t>
            </a:r>
          </a:p>
          <a:p>
            <a:pPr>
              <a:defRPr sz="1100" b="0">
                <a:solidFill>
                  <a:srgbClr val="B7C5D8"/>
                </a:solidFill>
                <a:latin typeface="Aptos"/>
              </a:defRPr>
            </a:pPr>
            <a:r>
              <a:rPr lang="en-IN" sz="1600" dirty="0"/>
              <a:t>Vaibhav R - PES2UG24CS664</a:t>
            </a:r>
            <a:br>
              <a:rPr lang="en-IN" sz="1600" dirty="0"/>
            </a:br>
            <a:r>
              <a:rPr lang="en-IN" sz="1600" dirty="0"/>
              <a:t>Palla Tejeswar Reddy - PES2UG24CS644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55063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Airbnb hosts need a defensible nightly price; guests need to judge whether a listing is fairly priced. Price depends on property, location, availability and listing-description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82880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655063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OUR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39112"/>
            <a:ext cx="4974336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Reproduce the reference paper’s multi-city regression experiments, compare our results with its reported metrics, then test Extra Trees as an additional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10607040" cy="1628138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Predict listing price from listing-level features.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Study NYC, Paris and Berlin rather than a single market.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Compare models using test R² and mean squared error (MSE).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</a:t>
            </a:r>
            <a:r>
              <a:rPr lang="en-US" dirty="0"/>
              <a:t>Compare paper reported results with our obtained results.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Dataset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3520440" cy="13258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09344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NYC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93392"/>
            <a:ext cx="3191256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47,840 listings after the $500 price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13258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609344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93392"/>
            <a:ext cx="3191256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59,021 listings after the $500 price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520440" cy="13258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609344"/>
            <a:ext cx="31912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A055"/>
                </a:solidFill>
                <a:latin typeface="Aptos"/>
              </a:defRPr>
            </a:pPr>
            <a:r>
              <a:t>BERLIN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993392"/>
            <a:ext cx="3191256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22,470 listings after the $500 price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10698480" cy="2212913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Reference dataset starts from 96 raw listing features; </a:t>
            </a:r>
            <a:r>
              <a:rPr lang="en-IN" dirty="0"/>
              <a:t>we are using</a:t>
            </a:r>
            <a:r>
              <a:rPr dirty="0"/>
              <a:t> common fields available across all three </a:t>
            </a:r>
            <a:r>
              <a:rPr lang="en-IN" dirty="0"/>
              <a:t>datasets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Feature set C: 7 shared numeric features.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Feature set C+O+T: numeric features + room type + area + listing title text.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Listing titles are represented using TF–IDF followed by truncated SVD (50 components).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Price is the regression target</a:t>
            </a:r>
            <a:r>
              <a:rPr lang="en-IN" dirty="0"/>
              <a:t>,</a:t>
            </a:r>
            <a:r>
              <a:rPr dirty="0"/>
              <a:t> the main reproduction experiments cap prices at $500.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Existing approaches in the reference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577840" cy="3090077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</a:t>
            </a:r>
            <a:r>
              <a:rPr lang="en-US" dirty="0"/>
              <a:t>L</a:t>
            </a:r>
            <a:r>
              <a:rPr dirty="0"/>
              <a:t>inear regression: regularized linear baseline.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K-nearest-neighbor regression: predicts from similar listings.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Random Forest: bagged decision trees capture nonlinear feature interactions.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Neural network (MLP): learns nonlinear combinations of features.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XGBoost</a:t>
            </a:r>
            <a:r>
              <a:rPr dirty="0"/>
              <a:t>: gradient-boosted trees; a strong reference model in this notebook.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00200"/>
            <a:ext cx="4572000" cy="105156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93992" y="1746504"/>
            <a:ext cx="42428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EXPERIMENTAL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130552"/>
            <a:ext cx="4242816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One shared 70 / 20 / 10 train-validation-test split strategy, with fixed random seed.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880360"/>
            <a:ext cx="4572000" cy="105156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3026664"/>
            <a:ext cx="42428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410712"/>
            <a:ext cx="4242816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t>Test R² and MSE are used to compare predicted prices with observed prices.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Reproduction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05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71500" y="2146554"/>
            <a:ext cx="11018520" cy="3108960"/>
            <a:chOff x="685800" y="1600200"/>
            <a:chExt cx="11018520" cy="3108960"/>
          </a:xfrm>
        </p:grpSpPr>
        <p:sp>
          <p:nvSpPr>
            <p:cNvPr id="7" name="Rounded Rectangle 6"/>
            <p:cNvSpPr/>
            <p:nvPr/>
          </p:nvSpPr>
          <p:spPr>
            <a:xfrm>
              <a:off x="685800" y="160020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50392" y="174650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27C4B4"/>
                  </a:solidFill>
                  <a:latin typeface="Aptos"/>
                </a:defRPr>
              </a:pPr>
              <a: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0392" y="213055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Load city datasets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80560" y="160020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45152" y="174650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64CDF5"/>
                  </a:solidFill>
                  <a:latin typeface="Aptos"/>
                </a:defRPr>
              </a:pPr>
              <a: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45152" y="213055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Clean/filter prices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75320" y="160020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39912" y="174650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FFA055"/>
                  </a:solidFill>
                  <a:latin typeface="Aptos"/>
                </a:defRPr>
              </a:pPr>
              <a: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39912" y="213055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Create feature sets C and C+O+T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85800" y="347472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50392" y="362102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27C4B4"/>
                  </a:solidFill>
                  <a:latin typeface="Aptos"/>
                </a:defRPr>
              </a:pPr>
              <a:r>
                <a:t>04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0392" y="400507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Split: 70% / 20% / 10%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80560" y="347472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45152" y="362102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64CDF5"/>
                  </a:solidFill>
                  <a:latin typeface="Aptos"/>
                </a:defRPr>
              </a:pPr>
              <a:r>
                <a:t>05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45152" y="400507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Train five reference-family models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275320" y="3474720"/>
              <a:ext cx="3429000" cy="1234440"/>
            </a:xfrm>
            <a:prstGeom prst="roundRect">
              <a:avLst/>
            </a:prstGeom>
            <a:solidFill>
              <a:srgbClr val="162846"/>
            </a:solidFill>
            <a:ln>
              <a:solidFill>
                <a:srgbClr val="304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439912" y="3621024"/>
              <a:ext cx="309981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FFA055"/>
                  </a:solidFill>
                  <a:latin typeface="Aptos"/>
                </a:defRPr>
              </a:pPr>
              <a:r>
                <a:t>06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439912" y="4005072"/>
              <a:ext cx="3099816" cy="57607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600" b="0">
                  <a:solidFill>
                    <a:srgbClr val="F8FAFD"/>
                  </a:solidFill>
                  <a:latin typeface="Aptos"/>
                </a:defRPr>
              </a:pPr>
              <a:r>
                <a:t>Evaluate test R² and MSE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Reproduced results: NYC continuous features (C)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B7C5D8"/>
                </a:solidFill>
                <a:latin typeface="Aptos"/>
              </a:defRPr>
            </a:pPr>
            <a:r>
              <a:t>Test R²: paper-reported values compared with our reproduction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874520"/>
            <a:ext cx="3063240" cy="114300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90304" y="2039112"/>
            <a:ext cx="273405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rPr dirty="0"/>
              <a:t>BEST IN OUR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3756" y="2400300"/>
            <a:ext cx="2734056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XGBoost: R² = 0.347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307588"/>
            <a:ext cx="3063240" cy="13258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Group 16"/>
          <p:cNvGrpSpPr/>
          <p:nvPr/>
        </p:nvGrpSpPr>
        <p:grpSpPr>
          <a:xfrm>
            <a:off x="8924544" y="3429000"/>
            <a:ext cx="2734056" cy="1051560"/>
            <a:chOff x="8394192" y="3392424"/>
            <a:chExt cx="2734056" cy="1051560"/>
          </a:xfrm>
        </p:grpSpPr>
        <p:sp>
          <p:nvSpPr>
            <p:cNvPr id="13" name="TextBox 12"/>
            <p:cNvSpPr txBox="1"/>
            <p:nvPr/>
          </p:nvSpPr>
          <p:spPr>
            <a:xfrm>
              <a:off x="8394192" y="3392424"/>
              <a:ext cx="2734056" cy="32004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500" b="1">
                  <a:solidFill>
                    <a:srgbClr val="64CDF5"/>
                  </a:solidFill>
                  <a:latin typeface="Aptos"/>
                </a:defRPr>
              </a:pPr>
              <a:r>
                <a:t>PAPER REFERENCE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94192" y="3776472"/>
              <a:ext cx="2734056" cy="667512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>
                <a:defRPr sz="1400" b="0">
                  <a:solidFill>
                    <a:srgbClr val="F8FAFD"/>
                  </a:solidFill>
                  <a:latin typeface="Aptos"/>
                </a:defRPr>
              </a:pPr>
              <a:r>
                <a:rPr dirty="0" err="1"/>
                <a:t>XGBoost</a:t>
              </a:r>
              <a:r>
                <a:rPr dirty="0"/>
                <a:t> test R² = 0.665 on C; reported results are higher than this reproduction.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822960" y="5715000"/>
            <a:ext cx="107899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7C5D8"/>
                </a:solidFill>
                <a:latin typeface="Aptos"/>
              </a:defRPr>
            </a:pPr>
            <a:r>
              <a:rPr dirty="0"/>
              <a:t>Differences are </a:t>
            </a:r>
            <a:r>
              <a:rPr lang="en-US" dirty="0"/>
              <a:t>due to the changes in some of the datasets and also due to the deletion of the original datasets.</a:t>
            </a:r>
            <a:br>
              <a:rPr lang="en-US" dirty="0"/>
            </a:br>
            <a:r>
              <a:rPr lang="en-US" dirty="0"/>
              <a:t>The new datasets do not have the same features as the original ones used in the reference paper.</a:t>
            </a:r>
            <a:endParaRPr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40"/>
            <a:ext cx="84455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Reproduction results across all three cities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B7C5D8"/>
                </a:solidFill>
                <a:latin typeface="Aptos"/>
              </a:defRPr>
            </a:pPr>
            <a:r>
              <a:t>Reference-family models with C+O+T features. XGBoost has the highest test R² in each city in our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828800"/>
            <a:ext cx="2743200" cy="105156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2792" y="1975104"/>
            <a:ext cx="2414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NYC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359152"/>
            <a:ext cx="2414016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XGBoost R² = 0.573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108960"/>
            <a:ext cx="2743200" cy="105156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22792" y="3255264"/>
            <a:ext cx="2414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3639312"/>
            <a:ext cx="2414016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XGBoost R² = 0.429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389120"/>
            <a:ext cx="2743200" cy="105156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22792" y="4535424"/>
            <a:ext cx="24140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A055"/>
                </a:solidFill>
                <a:latin typeface="Aptos"/>
              </a:defRPr>
            </a:pPr>
            <a:r>
              <a:t>BERLIN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4919472"/>
            <a:ext cx="2414016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XGBoost R² = 0.377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8FAFD"/>
                </a:solidFill>
                <a:latin typeface="Aptos"/>
              </a:defRPr>
            </a:pPr>
            <a:r>
              <a:t>Adding categorical and text features improves performance versus numeric-only C in all three cities.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43572"/>
            <a:ext cx="7561420" cy="3697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Reference paper vs reproduction: what changed?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12080" cy="182880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55063"/>
            <a:ext cx="4882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PAPER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4882896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NYC XGBoost test R²: 0.665 with continuous features (C); 0.706 with continuous + categorical + text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655063"/>
            <a:ext cx="488289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OUR 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39112"/>
            <a:ext cx="4882896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8FAFD"/>
                </a:solidFill>
                <a:latin typeface="Aptos"/>
              </a:defRPr>
            </a:pPr>
            <a:r>
              <a:t>NYC XGBoost test R²: 0.347 with C; 0.573 with C+O+T. Paris C+O+T: 0.429.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10424160" cy="1012585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</a:t>
            </a:r>
            <a:r>
              <a:rPr lang="en-US" dirty="0"/>
              <a:t>Our dataset’s</a:t>
            </a:r>
            <a:r>
              <a:rPr dirty="0"/>
              <a:t> C feature set contains only 7 shared numeric features, not the paper’s full continuous feature set.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dirty="0"/>
              <a:t>•  The C+O+T experiment adds room type, area and title text, bringing results closer to the paper’s richer feature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Proposed extension: Extra Trees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141732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95628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WHY EXTRA TREES?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15668"/>
            <a:ext cx="4974336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rPr dirty="0"/>
              <a:t>The reference paper does not report </a:t>
            </a:r>
            <a:r>
              <a:rPr dirty="0" err="1"/>
              <a:t>ExtraTreesRegressor</a:t>
            </a:r>
            <a:r>
              <a:rPr dirty="0"/>
              <a:t>. It tests whether additional randomization of tree split thresholds can offer a useful alternative to Random Forest.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41732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655063"/>
            <a:ext cx="497433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39112"/>
            <a:ext cx="4974336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rPr dirty="0" err="1"/>
              <a:t>ExtraTreesRegressor</a:t>
            </a:r>
            <a:r>
              <a:rPr dirty="0"/>
              <a:t> with 300 estimators, </a:t>
            </a:r>
            <a:r>
              <a:rPr dirty="0" err="1"/>
              <a:t>max_features</a:t>
            </a:r>
            <a:r>
              <a:rPr dirty="0"/>
              <a:t>=1.0, </a:t>
            </a:r>
            <a:r>
              <a:rPr dirty="0" err="1"/>
              <a:t>min_samples_leaf</a:t>
            </a:r>
            <a:r>
              <a:rPr dirty="0"/>
              <a:t>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0332720" cy="2103120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Same city datasets, feature sets and train/test splits as the reference-family experiments.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Evaluate with the same metrics: test R² and MSE.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t>•  Compare directly with Random Forest and XGBoost to measure the value of the add-on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Extension results: Extra Trees vs tree ensembles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B7C5D8"/>
                </a:solidFill>
                <a:latin typeface="Aptos"/>
              </a:defRPr>
            </a:pPr>
            <a:r>
              <a:t>Test R² on C+O+T features</a:t>
            </a:r>
          </a:p>
        </p:txBody>
      </p:sp>
      <p:pic>
        <p:nvPicPr>
          <p:cNvPr id="8" name="Picture 7" descr="airbnb_exten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772400" cy="38059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49640" y="1828800"/>
            <a:ext cx="2651760" cy="10972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879092"/>
            <a:ext cx="23225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EXTRA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207244"/>
            <a:ext cx="2322576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rPr dirty="0"/>
              <a:t>NYC 0.551</a:t>
            </a:r>
            <a:br>
              <a:rPr lang="en-US" dirty="0"/>
            </a:br>
            <a:r>
              <a:rPr dirty="0"/>
              <a:t>Paris 0.399</a:t>
            </a:r>
            <a:br>
              <a:rPr lang="en-US" dirty="0"/>
            </a:br>
            <a:r>
              <a:rPr dirty="0"/>
              <a:t>Berlin 0.332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246120"/>
            <a:ext cx="2651760" cy="10972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3286728"/>
            <a:ext cx="23225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rPr dirty="0"/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601180"/>
            <a:ext cx="2322576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rPr dirty="0"/>
              <a:t>NYC 0.541</a:t>
            </a:r>
            <a:br>
              <a:rPr lang="en-US" dirty="0"/>
            </a:br>
            <a:r>
              <a:rPr dirty="0"/>
              <a:t>Paris 0.376</a:t>
            </a:r>
            <a:br>
              <a:rPr lang="en-US" dirty="0"/>
            </a:br>
            <a:r>
              <a:rPr dirty="0"/>
              <a:t>Berlin 0.338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663440"/>
            <a:ext cx="2651760" cy="109728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4710176"/>
            <a:ext cx="23225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A055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5017976"/>
            <a:ext cx="2322576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rPr dirty="0"/>
              <a:t>NYC 0.573</a:t>
            </a:r>
            <a:br>
              <a:rPr lang="en-US" dirty="0"/>
            </a:br>
            <a:r>
              <a:rPr dirty="0"/>
              <a:t>Paris 0.429</a:t>
            </a:r>
            <a:br>
              <a:rPr lang="en-US" dirty="0"/>
            </a:br>
            <a:r>
              <a:rPr dirty="0"/>
              <a:t>Berlin 0.377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Comparison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3505575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</a:t>
            </a:r>
            <a:r>
              <a:rPr sz="2000" dirty="0" err="1"/>
              <a:t>XGBoost</a:t>
            </a:r>
            <a:r>
              <a:rPr sz="2000" dirty="0"/>
              <a:t> is the strongest reference-family model by test R² for all three cities and both feature sets in this run.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Extra Trees beats Random Forest slightly in NYC and Paris with C+O+T, but trails it slightly in Berlin.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Extra Trees remains below </a:t>
            </a:r>
            <a:r>
              <a:rPr sz="2000" dirty="0" err="1"/>
              <a:t>XGBoost</a:t>
            </a:r>
            <a:r>
              <a:rPr sz="2000" dirty="0"/>
              <a:t> in all city/feature-set comparisons.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Adding categorical and title-text features improves test R² substantially compared with numeric-only C.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The extension is informative even without winning: it tests whether extra tree randomization adds value under the same evaluation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Limitations &amp;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881360" cy="2736134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Numerical results differ from the paper, in part because </a:t>
            </a:r>
            <a:r>
              <a:rPr lang="en-US" sz="2000" dirty="0"/>
              <a:t>our dataset has</a:t>
            </a:r>
            <a:r>
              <a:rPr sz="2000" dirty="0"/>
              <a:t> only 7 common numeric features for C and a particular shared feature construction for C+O+T.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A single train/validation/test split can be sensitive to sampling; repeated splits or cross-validation would provide stronger evidence.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Price filtering at $500 changes the prediction task and limits conclusions about high-priced listings.</a:t>
            </a:r>
          </a:p>
          <a:p>
            <a:pPr>
              <a:spcAft>
                <a:spcPts val="12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2000" dirty="0"/>
              <a:t>•  Transfer to Berlin is difficult: the notebook’s transfer experiment does not reproduce the paper’s positive combined-city transfer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7C4B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F8FAF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1109960" cy="22860"/>
          </a:xfrm>
          <a:prstGeom prst="rect">
            <a:avLst/>
          </a:prstGeom>
          <a:solidFill>
            <a:srgbClr val="27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27C4B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00784"/>
            <a:ext cx="30998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27C4B4"/>
                </a:solidFill>
                <a:latin typeface="Aptos"/>
              </a:defRPr>
            </a:pPr>
            <a:r>
              <a:t>REPRODUCE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3099816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rPr sz="1400" dirty="0"/>
              <a:t>Implemented five reference model families across NYC, Paris and Berlin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41732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0998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64CDF5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84831"/>
            <a:ext cx="3099816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rPr sz="1400" dirty="0"/>
              <a:t>Added Extra Trees and evaluated it with the same feature sets and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429000" cy="1417320"/>
          </a:xfrm>
          <a:prstGeom prst="roundRect">
            <a:avLst/>
          </a:prstGeom>
          <a:solidFill>
            <a:srgbClr val="162846"/>
          </a:solidFill>
          <a:ln>
            <a:solidFill>
              <a:srgbClr val="30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1700784"/>
            <a:ext cx="30998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A055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084831"/>
            <a:ext cx="3099816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rPr lang="en-US" sz="1400" dirty="0" err="1"/>
              <a:t>XGBoost</a:t>
            </a:r>
            <a:r>
              <a:rPr lang="en-US" sz="1400" dirty="0"/>
              <a:t> remains the strongest overall model, while Extra Trees is competitive with Random Forest in some cities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424160" cy="1212640"/>
          </a:xfrm>
          <a:prstGeom prst="rect">
            <a:avLst/>
          </a:prstGeom>
          <a:noFill/>
        </p:spPr>
        <p:txBody>
          <a:bodyPr wrap="square" lIns="73152" t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Best C+O+T test R² in this run: NYC 0.573, Paris 0.429, Berlin 0.377 (</a:t>
            </a:r>
            <a:r>
              <a:rPr dirty="0" err="1"/>
              <a:t>XGBoost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Extra Trees C+O+T test R²: NYC 0.551, Paris 0.399, Berlin 0.332.</a:t>
            </a:r>
          </a:p>
          <a:p>
            <a:pPr>
              <a:spcAft>
                <a:spcPts val="1200"/>
              </a:spcAft>
              <a:defRPr sz="1700">
                <a:solidFill>
                  <a:srgbClr val="F8FAFD"/>
                </a:solidFill>
                <a:latin typeface="Aptos"/>
              </a:defRPr>
            </a:pPr>
            <a:r>
              <a:rPr dirty="0"/>
              <a:t>•  Main lesson: feature representation matters, and the add-on model </a:t>
            </a:r>
            <a:r>
              <a:rPr lang="en-US" dirty="0"/>
              <a:t>gives a fair comparison to the </a:t>
            </a:r>
            <a:r>
              <a:rPr lang="en-US" dirty="0" err="1"/>
              <a:t>XGBoost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1156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Vaibhav R</cp:lastModifiedBy>
  <cp:revision>9</cp:revision>
  <dcterms:created xsi:type="dcterms:W3CDTF">2013-01-27T09:14:16Z</dcterms:created>
  <dcterms:modified xsi:type="dcterms:W3CDTF">2026-10-15T03:34:02Z</dcterms:modified>
  <cp:category/>
</cp:coreProperties>
</file>